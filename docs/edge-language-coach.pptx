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rts/chart2.xml" ContentType="application/vnd.openxmlformats-officedocument.drawingml.chart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71" r:id="rId4"/>
    <p:sldId id="258" r:id="rId5"/>
    <p:sldId id="259" r:id="rId6"/>
    <p:sldId id="268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9" r:id="rId16"/>
    <p:sldId id="270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Calibri"/>
              </a:defRPr>
            </a:pPr>
            <a:r>
              <a:rPr lang="en-US" sz="1100" b="0" i="0" u="none" strike="noStrike">
                <a:solidFill>
                  <a:srgbClr val="6B7280"/>
                </a:solidFill>
                <a:latin typeface="Calibri"/>
              </a:rPr>
              <a:t>Figure 2.  Error rate under saturation (k6 scaled_out)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gateway_errors rate (%)</c:v>
                </c:pt>
              </c:strCache>
            </c:strRef>
          </c:tx>
          <c:spPr>
            <a:solidFill>
              <a:srgbClr val="1A2238"/>
            </a:solidFill>
            <a:effectLst/>
          </c:spPr>
          <c:invertIfNegative val="0"/>
          <c:dLbls>
            <c:numFmt formatCode="0.0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A2238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1 replica</c:v>
                </c:pt>
                <c:pt idx="1">
                  <c:v>3 replicas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6.81</c:v>
                </c:pt>
                <c:pt idx="1">
                  <c:v>0.27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58-412B-9661-494D3461883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3333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8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Calibri"/>
              </a:defRPr>
            </a:pPr>
            <a:r>
              <a:rPr lang="en-US" sz="1100" b="0" i="0" u="none" strike="noStrike">
                <a:solidFill>
                  <a:srgbClr val="6B7280"/>
                </a:solidFill>
                <a:latin typeface="Calibri"/>
              </a:rPr>
              <a:t>Figure 3.  Projected monthly cost by user scale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Estimated monthly cost (USD)</c:v>
                </c:pt>
              </c:strCache>
            </c:strRef>
          </c:tx>
          <c:spPr>
            <a:solidFill>
              <a:srgbClr val="1A2238"/>
            </a:solidFill>
            <a:effectLst/>
          </c:spPr>
          <c:invertIfNegative val="0"/>
          <c:dLbls>
            <c:numFmt formatCode="&quot;$&quot;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A2238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Current
(development)</c:v>
                </c:pt>
                <c:pt idx="1">
                  <c:v>20 users</c:v>
                </c:pt>
                <c:pt idx="2">
                  <c:v>200 users</c:v>
                </c:pt>
                <c:pt idx="3">
                  <c:v>1,000 users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3</c:v>
                </c:pt>
                <c:pt idx="2">
                  <c:v>35</c:v>
                </c:pt>
                <c:pt idx="3">
                  <c:v>200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BC5-4193-B5E3-AED131585D9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333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6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792294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Scalable and Reliable Systems ·  Academic Year 2025 / 26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51960" y="1051560"/>
            <a:ext cx="36576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2194560"/>
            <a:ext cx="11155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Edge Language Coach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02920" y="32918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2200" i="1" dirty="0">
                <a:solidFill>
                  <a:srgbClr val="333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Architecture, Reliability and Operability</a:t>
            </a:r>
            <a:endParaRPr lang="en-US" sz="220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2200" i="1" dirty="0">
                <a:solidFill>
                  <a:srgbClr val="333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 an LLM-driven Italian Language Tutor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623560" y="4526280"/>
            <a:ext cx="914400" cy="0"/>
          </a:xfrm>
          <a:prstGeom prst="line">
            <a:avLst/>
          </a:prstGeom>
          <a:noFill/>
          <a:ln w="12700">
            <a:solidFill>
              <a:srgbClr val="7A2E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02920" y="493776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5212080"/>
            <a:ext cx="11155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/>
              <a:t>Ibrahim Hani Mohamed Morsy Askar</a:t>
            </a:r>
          </a:p>
          <a:p>
            <a:pPr algn="ctr"/>
            <a:r>
              <a:rPr lang="en-US" b="1" dirty="0"/>
              <a:t>Hassan Mujtaba Ahmed</a:t>
            </a:r>
          </a:p>
        </p:txBody>
      </p:sp>
      <p:sp>
        <p:nvSpPr>
          <p:cNvPr id="9" name="Text 7"/>
          <p:cNvSpPr/>
          <p:nvPr/>
        </p:nvSpPr>
        <p:spPr>
          <a:xfrm>
            <a:off x="502920" y="562356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2920" y="62179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kern="0" spc="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A2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I.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05156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789920" y="4114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6355080"/>
            <a:ext cx="1115568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64465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Language Coach  ·  Course Project  ·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086600" y="64465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Ibrahim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91440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 question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02920" y="187452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Language Coach is an Italian language learning application built on LLM-driven conversation practice, spaced-repetition flashcards and automated topic curation.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1280160" y="2880360"/>
            <a:ext cx="0" cy="1508760"/>
          </a:xfrm>
          <a:prstGeom prst="line">
            <a:avLst/>
          </a:prstGeom>
          <a:noFill/>
          <a:ln w="19050">
            <a:solidFill>
              <a:srgbClr val="7A2E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554480" y="2880360"/>
            <a:ext cx="10058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700" i="1" dirty="0">
                <a:solidFill>
                  <a:srgbClr val="333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engineering question is not whether a language model can converse in Italian. It can. The question is whether the system around the model remains usable when the model is slow, the queue backs up or a replica crashes mid-session.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02920" y="457200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 addresses that question along three axes.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5212080"/>
            <a:ext cx="370332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02920" y="52852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7A2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(i)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60120" y="528523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Reliability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02920" y="5623560"/>
            <a:ext cx="3703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Circuit breakers, retries, idempotency and health probes.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407408" y="5212080"/>
            <a:ext cx="370332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407408" y="52852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7A2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(ii)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64608" y="528523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Scalability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407408" y="5623560"/>
            <a:ext cx="3703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stateless gateway with horizontal scale-out behind nginx-lb.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311896" y="5212080"/>
            <a:ext cx="370332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8311896" y="52852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7A2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(iii)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769096" y="528523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Operability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311896" y="5623560"/>
            <a:ext cx="3703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MCP servers exposing live state to agentic operators.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A2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II.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05156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789920" y="4114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6355080"/>
            <a:ext cx="1115568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64465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Language Coach  ·  Course Project  ·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086600" y="64465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Ibrahim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91440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platform does for the learner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477931"/>
              </p:ext>
            </p:extLst>
          </p:nvPr>
        </p:nvGraphicFramePr>
        <p:xfrm>
          <a:off x="502920" y="1874520"/>
          <a:ext cx="11155680" cy="3840480"/>
        </p:xfrm>
        <a:graphic>
          <a:graphicData uri="http://schemas.openxmlformats.org/drawingml/2006/table">
            <a:tbl>
              <a:tblPr/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67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56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Capability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Powered by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the learner does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A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Placement test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i="1" dirty="0">
                          <a:solidFill>
                            <a:srgbClr val="7A2E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CEFR question bank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Answers a short quiz on first sign-in; the result sets a CEFR level from A1 to C2 and unlocks the playground.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A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 library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i="1" dirty="0">
                          <a:solidFill>
                            <a:srgbClr val="7A2E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Scraper worker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Browses fresh Italian current-affairs topics, sorted by category and CEFR level and refreshed every six hours.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A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Coaching session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i="1" dirty="0">
                          <a:solidFill>
                            <a:srgbClr val="7A2E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Whisper + Groq LLM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Speaks Italian about a chosen topic; the AI tutor transcribes each turn, replies and corrects in conversation.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A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Flashcard review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i="1" dirty="0">
                          <a:solidFill>
                            <a:srgbClr val="7A2E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SM-2 scheduler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Reviews vocabulary, grammar and translation cards as they fall due; ease and interval adapt to recall.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A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Progress report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i="1" dirty="0">
                          <a:solidFill>
                            <a:srgbClr val="7A2E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Weekly aggregator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Sees an ISO-week roll-up of sessions, recurring mistakes, most-practised topics and what to study next.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02920" y="594360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Topics and flashcards are produced ahead of demand by background workers; sessions, feedback and reports are generated live.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A2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III.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05156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OVERVIEW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789920" y="4114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6355080"/>
            <a:ext cx="1115568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64465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Language Coach  ·  Course Project  ·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086600" y="64465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Ibrahim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91440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independently deployable runtime units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02920" y="182880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30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is a distributed, event-driven architecture. Shared state lives in Redis (queues and rate-limit counters) and Supabase (persistence and authentication).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743200"/>
          <a:ext cx="11155680" cy="201168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Technology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responsibilities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A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i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React 19 · Vite · nginx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Single-page application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Static build, served by Vercel in production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A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Gateway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i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Fastify · Node.js 22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 API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Authentication, rate limiting, circuit breaker, health probes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A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Workers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i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Node.js · BullMQ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Asynchronous job processing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 scraper, summary generation, flashcard generation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02920" y="576072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units are deployed independently. Production: Oracle Cloud VM (gateway, workers, Redis) plus Vercel (SPA). Multi-arch Docker images via GHCR.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A2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IV.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05156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789920" y="4114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6355080"/>
            <a:ext cx="1115568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64465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Language Coach  ·  Course Project  ·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086600" y="64465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Ibrahim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91440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Container view (C4 — Level 2)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2743200"/>
            <a:ext cx="19202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1A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94360" y="281635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Browser SPA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4360" y="32004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 · Vite</a:t>
            </a:r>
            <a:endParaRPr lang="en-US" sz="95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(via Vercel)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02920" y="4572000"/>
            <a:ext cx="19202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1A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94360" y="464515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Prometheus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94360" y="50292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Scrape /metrics</a:t>
            </a:r>
            <a:endParaRPr lang="en-US" sz="95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Grafana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971800" y="2743200"/>
            <a:ext cx="18288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1A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063240" y="281635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nginx-lb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063240" y="32004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Round-robin</a:t>
            </a:r>
            <a:endParaRPr lang="en-US" sz="95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balancing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349240" y="2743200"/>
            <a:ext cx="21945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1A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440680" y="281635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Gateway × 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40680" y="32004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Fastify · Node.js</a:t>
            </a:r>
            <a:endParaRPr lang="en-US" sz="95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· breaker · rate-limit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349240" y="4572000"/>
            <a:ext cx="21945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1A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440680" y="464515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Workers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440680" y="5029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BullMQ consumers</a:t>
            </a:r>
            <a:endParaRPr lang="en-US" sz="95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scraper · summary · flashcard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549640" y="2194560"/>
            <a:ext cx="1554480" cy="914400"/>
          </a:xfrm>
          <a:prstGeom prst="rect">
            <a:avLst/>
          </a:prstGeom>
          <a:solidFill>
            <a:srgbClr val="F7F7F4"/>
          </a:solidFill>
          <a:ln w="12700">
            <a:solidFill>
              <a:srgbClr val="1A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8641080" y="226771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Redis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641080" y="265176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Queues +</a:t>
            </a:r>
            <a:endParaRPr lang="en-US" sz="95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rate-limit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8549640" y="3291840"/>
            <a:ext cx="1554480" cy="914400"/>
          </a:xfrm>
          <a:prstGeom prst="rect">
            <a:avLst/>
          </a:prstGeom>
          <a:solidFill>
            <a:srgbClr val="FFFFFF"/>
          </a:solidFill>
          <a:ln w="15875">
            <a:solidFill>
              <a:srgbClr val="7A2E3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8641080" y="33649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Supabase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641080" y="374904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+ Auth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8549640" y="4389120"/>
            <a:ext cx="1554480" cy="914400"/>
          </a:xfrm>
          <a:prstGeom prst="rect">
            <a:avLst/>
          </a:prstGeom>
          <a:solidFill>
            <a:srgbClr val="FFFFFF"/>
          </a:solidFill>
          <a:ln w="15875">
            <a:solidFill>
              <a:srgbClr val="7A2E3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8641080" y="446227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Groq API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641080" y="484632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+ Whisper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10561320" y="2743200"/>
            <a:ext cx="12801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10652760" y="2816352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Bull Board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10652760" y="320040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DLQ inspection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10561320" y="3840480"/>
            <a:ext cx="12801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10652760" y="3913632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Grafana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10652760" y="42976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2423160" y="3246120"/>
            <a:ext cx="548640" cy="0"/>
          </a:xfrm>
          <a:prstGeom prst="line">
            <a:avLst/>
          </a:prstGeom>
          <a:noFill/>
          <a:ln w="12700">
            <a:solidFill>
              <a:srgbClr val="1A223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4800600" y="3246120"/>
            <a:ext cx="548640" cy="0"/>
          </a:xfrm>
          <a:prstGeom prst="line">
            <a:avLst/>
          </a:prstGeom>
          <a:noFill/>
          <a:ln w="12700">
            <a:solidFill>
              <a:srgbClr val="1A223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7543800" y="3017520"/>
            <a:ext cx="1005840" cy="0"/>
          </a:xfrm>
          <a:prstGeom prst="line">
            <a:avLst/>
          </a:prstGeom>
          <a:noFill/>
          <a:ln w="12700">
            <a:solidFill>
              <a:srgbClr val="1A223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7543800" y="3520440"/>
            <a:ext cx="1005840" cy="228600"/>
          </a:xfrm>
          <a:prstGeom prst="line">
            <a:avLst/>
          </a:prstGeom>
          <a:noFill/>
          <a:ln w="12700">
            <a:solidFill>
              <a:srgbClr val="1A223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7543800" y="3703320"/>
            <a:ext cx="1005840" cy="1051560"/>
          </a:xfrm>
          <a:prstGeom prst="line">
            <a:avLst/>
          </a:prstGeom>
          <a:noFill/>
          <a:ln w="12700">
            <a:solidFill>
              <a:srgbClr val="1A2238"/>
            </a:solidFill>
            <a:prstDash val="dash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7543800" y="4846320"/>
            <a:ext cx="1005840" cy="0"/>
          </a:xfrm>
          <a:prstGeom prst="line">
            <a:avLst/>
          </a:prstGeom>
          <a:noFill/>
          <a:ln w="12700">
            <a:solidFill>
              <a:srgbClr val="1A223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2423160" y="4846320"/>
            <a:ext cx="548640" cy="0"/>
          </a:xfrm>
          <a:prstGeom prst="line">
            <a:avLst/>
          </a:prstGeom>
          <a:noFill/>
          <a:ln w="12700">
            <a:solidFill>
              <a:srgbClr val="1A2238"/>
            </a:solidFill>
            <a:prstDash val="dash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502920" y="59436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1.  Container diagram. Solid edges denote in-band request paths; dashed edges denote scrape traffic and circuit-broken calls. External systems are drawn with dashed borders.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A2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V.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05156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DECISIONS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789920" y="4114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6355080"/>
            <a:ext cx="1115568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64465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Language Coach  ·  Course Project  ·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086600" y="64465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Ibrahim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91440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architectural decisions, each with a cost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02920" y="187452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Trade-offs are recorded as architecture decision records (ADRs) under docs/adr/. The four most consequential decisions follow.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2514600"/>
            <a:ext cx="5349240" cy="0"/>
          </a:xfrm>
          <a:prstGeom prst="line">
            <a:avLst/>
          </a:prstGeom>
          <a:noFill/>
          <a:ln w="12700">
            <a:solidFill>
              <a:srgbClr val="1A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02920" y="26060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rgbClr val="7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ADR-001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2920" y="2880360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Node.js workers, not Go microservices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02920" y="3383280"/>
            <a:ext cx="5349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100" b="1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 </a:t>
            </a: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TypeScript types · single toolchain · faster iteration.</a:t>
            </a:r>
            <a:endParaRPr lang="en-US" sz="11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100" b="1" i="1" dirty="0">
                <a:solidFill>
                  <a:srgbClr val="7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 </a:t>
            </a: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Workers cannot scale independently — one service scales all three.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355080" y="2514600"/>
            <a:ext cx="5349240" cy="0"/>
          </a:xfrm>
          <a:prstGeom prst="line">
            <a:avLst/>
          </a:prstGeom>
          <a:noFill/>
          <a:ln w="12700">
            <a:solidFill>
              <a:srgbClr val="1A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355080" y="26060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rgbClr val="7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ADR-002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355080" y="2880360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BullMQ on Redis, not RabbitMQ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355080" y="3383280"/>
            <a:ext cx="5349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100" b="1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 </a:t>
            </a: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dependency · rate-limit + queue share Redis · TypeScript-native.</a:t>
            </a:r>
            <a:endParaRPr lang="en-US" sz="11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100" b="1" i="1" dirty="0">
                <a:solidFill>
                  <a:srgbClr val="7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 </a:t>
            </a: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is not a purpose-built broker; AOF persistence required in production.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02920" y="4343400"/>
            <a:ext cx="5349240" cy="0"/>
          </a:xfrm>
          <a:prstGeom prst="line">
            <a:avLst/>
          </a:prstGeom>
          <a:noFill/>
          <a:ln w="12700">
            <a:solidFill>
              <a:srgbClr val="1A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02920" y="44348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rgbClr val="7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ADR-003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02920" y="4709160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Supabase, not self-hosted Postgres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02920" y="5212080"/>
            <a:ext cx="5349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100" b="1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 </a:t>
            </a: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 and row-level security out of the box · no DB ops.</a:t>
            </a:r>
            <a:endParaRPr lang="en-US" sz="11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100" b="1" i="1" dirty="0">
                <a:solidFill>
                  <a:srgbClr val="7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 </a:t>
            </a: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dependency · cannot run fully offline · partial vendor lock-in.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355080" y="4343400"/>
            <a:ext cx="5349240" cy="0"/>
          </a:xfrm>
          <a:prstGeom prst="line">
            <a:avLst/>
          </a:prstGeom>
          <a:noFill/>
          <a:ln w="12700">
            <a:solidFill>
              <a:srgbClr val="1A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355080" y="44348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rgbClr val="7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ADR-004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355080" y="4709160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prom-client only, not full OpenTelemetry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355080" y="5212080"/>
            <a:ext cx="5349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100" b="1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 </a:t>
            </a: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 dependency footprint · ten-line Fastify instrumentation.</a:t>
            </a:r>
            <a:endParaRPr lang="en-US" sz="11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100" b="1" i="1" dirty="0">
                <a:solidFill>
                  <a:srgbClr val="7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 </a:t>
            </a: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cross-service tracing; partly compensated by the MCP read tools.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A2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VI.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05156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789920" y="4114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6355080"/>
            <a:ext cx="1115568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64465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Language Coach  ·  Course Project  ·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086600" y="64465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Ibrahim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91440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Failure modes and the primitives that address them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477931"/>
              </p:ext>
            </p:extLst>
          </p:nvPr>
        </p:nvGraphicFramePr>
        <p:xfrm>
          <a:off x="502920" y="1874520"/>
          <a:ext cx="11155680" cy="3840480"/>
        </p:xfrm>
        <a:graphic>
          <a:graphicData uri="http://schemas.openxmlformats.org/drawingml/2006/table">
            <a:tbl>
              <a:tblPr/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 mode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Primitive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Behaviour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A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Groq API slow or unavailable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i="1" dirty="0">
                          <a:solidFill>
                            <a:srgbClr val="7A2E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opossum circuit breaker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Opens after a 50 % error rate in a 60 s window, resets after 30 s. Fast-fail instead of stalling the event loop.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A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Redis unavailable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i="1" dirty="0">
                          <a:solidFill>
                            <a:srgbClr val="7A2E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Health probe and fallback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/readyz returns 503 naming the failing dependency. Rate-limiter falls back to in-memory, BullMQ reconnects automatically.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A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Worker job crash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i="1" dirty="0">
                          <a:solidFill>
                            <a:srgbClr val="7A2E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BullMQ retry and DLQ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Three attempts with 5 s exponential backoff, after budget the job moves to the dead-letter queue with a structured error log.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A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Gateway overloaded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i="1" dirty="0">
                          <a:solidFill>
                            <a:srgbClr val="7A2E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Per-user rate limit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 req / min per user, backed by Redis so the limit is shared across replicas. Health probes are allowlisted.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A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Scraper re-run within slot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i="1" dirty="0">
                          <a:solidFill>
                            <a:srgbClr val="7A2E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Redis idempotency key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scraper:slot:&lt;date&gt;:&lt;6h-window&gt;, TTL 6 h. Same window is a no-op. Title-level deduplication is a second layer.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02920" y="594360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five primitives are pinned by Vitest integration tests run on every push (CI: pnpm turbo test).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A2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VII.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05156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789920" y="4114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6355080"/>
            <a:ext cx="1115568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64465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Language Coach  ·  Course Project  ·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086600" y="64465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Ibrahim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91440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Empirical study — the Groq circuit breaker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02920" y="1874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02920" y="2240280"/>
            <a:ext cx="5669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mock Groq server (mocks/groq-mock.mjs) sleeps 30 s per request, exceeding the 15 s breaker timeout. A driver script (mocks/breaker-driver.mjs) issues 60 requests at concurrency 12 and records per-call latency.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6118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Observed behaviour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2920" y="397764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5000"/>
              </a:lnSpc>
              <a:buNone/>
            </a:pPr>
            <a:r>
              <a:rPr lang="en-US" sz="120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1–7. </a:t>
            </a: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request hits the 15.3 s timeout while the breaker accumulates failure samples.</a:t>
            </a:r>
            <a:endParaRPr lang="en-US" sz="1200" dirty="0"/>
          </a:p>
          <a:p>
            <a:pPr marL="0" indent="0">
              <a:lnSpc>
                <a:spcPct val="145000"/>
              </a:lnSpc>
              <a:buNone/>
            </a:pPr>
            <a:r>
              <a:rPr lang="en-US" sz="120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7. </a:t>
            </a: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10-sample volumeThreshold and 50 % error rate are both crossed; the breaker opens.</a:t>
            </a:r>
            <a:endParaRPr lang="en-US" sz="1200" dirty="0"/>
          </a:p>
          <a:p>
            <a:pPr marL="0" indent="0">
              <a:lnSpc>
                <a:spcPct val="145000"/>
              </a:lnSpc>
              <a:buNone/>
            </a:pPr>
            <a:r>
              <a:rPr lang="en-US" sz="120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8–60. </a:t>
            </a: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request is short-circuited in 12–58 ms and never reaches the upstream.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92240" y="1874520"/>
            <a:ext cx="5166360" cy="2331720"/>
          </a:xfrm>
          <a:prstGeom prst="rect">
            <a:avLst/>
          </a:prstGeom>
          <a:solidFill>
            <a:srgbClr val="F7F7F4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492240" y="1874520"/>
            <a:ext cx="0" cy="2331720"/>
          </a:xfrm>
          <a:prstGeom prst="line">
            <a:avLst/>
          </a:prstGeom>
          <a:noFill/>
          <a:ln w="25400">
            <a:solidFill>
              <a:srgbClr val="7A2E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720840" y="20116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400" dirty="0">
                <a:solidFill>
                  <a:srgbClr val="7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720840" y="23317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Adjacent-call latency cliff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720840" y="274320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15,300 ms  →  25 ms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6720840" y="342900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0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the breaker, all 60 calls would have paid the 15 s timeout. With it, only 7 did. The cost of an upstream failure is bounded.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92240" y="438912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Recovery Time Objectives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92240" y="4709160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Derived from configured timeouts and retry policy, not measured separately.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5074920"/>
          <a:ext cx="5166360" cy="1308100"/>
        </p:xfrm>
        <a:graphic>
          <a:graphicData uri="http://schemas.openxmlformats.org/drawingml/2006/table">
            <a:tbl>
              <a:tblPr/>
              <a:tblGrid>
                <a:gridCol w="3474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Groq slowdown or outage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A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90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Redis blip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A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20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Gateway replica crash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A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1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Worker job failure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A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20 s to DLQ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Scraper duplicate replay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A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1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A2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VIII.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05156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789920" y="4114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6355080"/>
            <a:ext cx="1115568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64465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Language Coach  ·  Course Project  ·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086600" y="64465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Ibrahim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91440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Horizontal scale-out of the stateless gateway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02920" y="187452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gateway is stateless: session data resides in Supabase and rate-limit counters in Redis. Scaling is a single configuration flag.</a:t>
            </a:r>
            <a:endParaRPr lang="en-US" sz="1250" dirty="0"/>
          </a:p>
        </p:txBody>
      </p:sp>
      <p:graphicFrame>
        <p:nvGraphicFramePr>
          <p:cNvPr id="10" name="Chart 0"/>
          <p:cNvGraphicFramePr/>
          <p:nvPr/>
        </p:nvGraphicFramePr>
        <p:xfrm>
          <a:off x="502920" y="2697480"/>
          <a:ext cx="594360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" name="Text 8"/>
          <p:cNvSpPr/>
          <p:nvPr/>
        </p:nvSpPr>
        <p:spPr>
          <a:xfrm>
            <a:off x="6766560" y="26974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Findings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766560" y="3017520"/>
            <a:ext cx="4937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15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Error-rate reduction: </a:t>
            </a: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replicas reduce the saturated error rate by approximately 96 % at zero additional cost on the Oracle free tier.</a:t>
            </a:r>
            <a:endParaRPr lang="en-US" sz="11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15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Throughput: </a:t>
            </a: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Sustained throughput is essentially unchanged (39.3 → 39.4 req / s); the bottleneck shifts from the gateway event loop to downstream round-trips.</a:t>
            </a:r>
            <a:endParaRPr lang="en-US" sz="11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15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Latency: </a:t>
            </a: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Marginal improvement only (p95 2.43 → 2.15 s); the gateway is the bottleneck for availability, not for latency.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02920" y="5989320"/>
            <a:ext cx="111556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502920" y="605332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50" b="1" i="1" dirty="0">
                <a:solidFill>
                  <a:srgbClr val="7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Threats to validity.  </a:t>
            </a: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k6 was co-located with Docker Desktop (CPU contention); Groq was mocked at sub-millisecond latency; single iteration per configuration.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A2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IX.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05156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789920" y="4114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6355080"/>
            <a:ext cx="1115568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64465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Language Coach  ·  Course Project  ·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086600" y="64465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Hassan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91440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Logs, metrics and health by design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02920" y="187452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services emit structured pino logs and expose Prometheus metrics. Two health probes back container orchestration.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606040"/>
            <a:ext cx="3703320" cy="0"/>
          </a:xfrm>
          <a:prstGeom prst="line">
            <a:avLst/>
          </a:prstGeom>
          <a:noFill/>
          <a:ln w="12700">
            <a:solidFill>
              <a:srgbClr val="1A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02920" y="269748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(i)  Structured logs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02920" y="310896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pino · JSON · per-request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3611880"/>
            <a:ext cx="320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22960" y="361188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service, requestId, sessionId, jobId, queue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" y="4206240"/>
            <a:ext cx="320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22960" y="420624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LOG_LEVEL configurable per environment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4800600"/>
            <a:ext cx="320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22960" y="480060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 for every MCP remediation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407408" y="2606040"/>
            <a:ext cx="3703320" cy="0"/>
          </a:xfrm>
          <a:prstGeom prst="line">
            <a:avLst/>
          </a:prstGeom>
          <a:noFill/>
          <a:ln w="12700">
            <a:solidFill>
              <a:srgbClr val="1A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407408" y="269748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(ii)  Metrics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407408" y="310896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prom-client · 15 s scrape interval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407408" y="3611880"/>
            <a:ext cx="320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727448" y="361188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http_request_duration_seconds (histogram)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407408" y="4206240"/>
            <a:ext cx="320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727448" y="420624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groq_circuit_breaker_state (gauge)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407408" y="4800600"/>
            <a:ext cx="320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727448" y="480060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queue_depth_total, jobs_dead_letter_total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311896" y="2606040"/>
            <a:ext cx="3703320" cy="0"/>
          </a:xfrm>
          <a:prstGeom prst="line">
            <a:avLst/>
          </a:prstGeom>
          <a:noFill/>
          <a:ln w="12700">
            <a:solidFill>
              <a:srgbClr val="1A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8311896" y="269748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(iii)  Health probes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8311896" y="310896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/livez · /readyz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311896" y="3611880"/>
            <a:ext cx="320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631936" y="361188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/livez returns 200 for orchestrator liveness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311896" y="4206240"/>
            <a:ext cx="320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631936" y="420624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/readyz pings Redis, Supabase and Groq (2 s)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311896" y="4800600"/>
            <a:ext cx="320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631936" y="480060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503 names the failing dependency in the body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02920" y="598932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Grafana dashboard provisioned from docker/grafana/dashboards/edge-coach.json is auto-loaded at startup. Bull Board exposes the DLQ at :3002/queues.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A2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X.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05156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SURFACE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789920" y="4114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6355080"/>
            <a:ext cx="1115568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64465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Language Coach  ·  Course Project  ·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086600" y="64465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Hassan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91440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agentic operator surface — two MCP servers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02920" y="1874520"/>
            <a:ext cx="11155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Model Context Protocol servers expose the running system to agent-driven inspection and remediation, without SSH or redeploy. The servers are split by privilege.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2606040"/>
            <a:ext cx="36118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" y="26700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A2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" y="2907792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320040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/ Grafana fires an alert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114800" y="3017520"/>
            <a:ext cx="292608" cy="0"/>
          </a:xfrm>
          <a:prstGeom prst="line">
            <a:avLst/>
          </a:prstGeom>
          <a:noFill/>
          <a:ln w="12700">
            <a:solidFill>
              <a:srgbClr val="1A223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407408" y="2606040"/>
            <a:ext cx="36118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544568" y="26700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A2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44568" y="2907792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544568" y="320040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observability-mcp  (read-only, six tools)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019288" y="3017520"/>
            <a:ext cx="292608" cy="0"/>
          </a:xfrm>
          <a:prstGeom prst="line">
            <a:avLst/>
          </a:prstGeom>
          <a:noFill/>
          <a:ln w="12700">
            <a:solidFill>
              <a:srgbClr val="1A223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311896" y="2606040"/>
            <a:ext cx="36118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449056" y="26700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A2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3.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449056" y="2907792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Remediate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449056" y="320040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remediation-mcp  (guarded write, three tools)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02920" y="3703320"/>
            <a:ext cx="5577840" cy="0"/>
          </a:xfrm>
          <a:prstGeom prst="line">
            <a:avLst/>
          </a:prstGeom>
          <a:noFill/>
          <a:ln w="19050">
            <a:solidFill>
              <a:srgbClr val="1A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02920" y="379476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2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observability-mcp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02920" y="416052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7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· no mutation · no auth needed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02920" y="4480560"/>
            <a:ext cx="55778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get_service_health</a:t>
            </a:r>
            <a:endParaRPr lang="en-US" sz="1100" dirty="0"/>
          </a:p>
          <a:p>
            <a:pPr marL="0" indent="0">
              <a:lnSpc>
                <a:spcPct val="135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get_queue_metrics</a:t>
            </a:r>
            <a:endParaRPr lang="en-US" sz="1100" dirty="0"/>
          </a:p>
          <a:p>
            <a:pPr marL="0" indent="0">
              <a:lnSpc>
                <a:spcPct val="135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get_circuit_breaker_state</a:t>
            </a:r>
            <a:endParaRPr lang="en-US" sz="1100" dirty="0"/>
          </a:p>
          <a:p>
            <a:pPr marL="0" indent="0">
              <a:lnSpc>
                <a:spcPct val="135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get_active_sessions</a:t>
            </a:r>
            <a:endParaRPr lang="en-US" sz="1100" dirty="0"/>
          </a:p>
          <a:p>
            <a:pPr marL="0" indent="0">
              <a:lnSpc>
                <a:spcPct val="135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get_groq_latency</a:t>
            </a:r>
            <a:endParaRPr lang="en-US" sz="1100" dirty="0"/>
          </a:p>
          <a:p>
            <a:pPr marL="0" indent="0">
              <a:lnSpc>
                <a:spcPct val="135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get_safety_policy</a:t>
            </a:r>
            <a:endParaRPr lang="en-US" sz="1100" dirty="0"/>
          </a:p>
          <a:p>
            <a:pPr marL="0" indent="0">
              <a:lnSpc>
                <a:spcPct val="135000"/>
              </a:lnSpc>
              <a:spcAft>
                <a:spcPts val="200"/>
              </a:spcAft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- agent self-binds at session start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080760" y="3703320"/>
            <a:ext cx="5577840" cy="0"/>
          </a:xfrm>
          <a:prstGeom prst="line">
            <a:avLst/>
          </a:prstGeom>
          <a:noFill/>
          <a:ln w="19050">
            <a:solidFill>
              <a:srgbClr val="1A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080760" y="379476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2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remediation-mcp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80760" y="416052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7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Guarded write · three layers of guard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080760" y="4480560"/>
            <a:ext cx="55778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pause_queue  /  resume_queue</a:t>
            </a:r>
            <a:endParaRPr lang="en-US" sz="1100" dirty="0"/>
          </a:p>
          <a:p>
            <a:pPr marL="0" indent="0">
              <a:lnSpc>
                <a:spcPct val="135000"/>
              </a:lnSpc>
              <a:spcAft>
                <a:spcPts val="200"/>
              </a:spcAft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- reversible · zod enum on queue name</a:t>
            </a:r>
            <a:endParaRPr lang="en-US" sz="1100" dirty="0"/>
          </a:p>
          <a:p>
            <a:pPr marL="0" indent="0">
              <a:lnSpc>
                <a:spcPct val="135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reset_circuit_breaker</a:t>
            </a:r>
            <a:endParaRPr lang="en-US" sz="1100" dirty="0"/>
          </a:p>
          <a:p>
            <a:pPr marL="0" indent="0">
              <a:lnSpc>
                <a:spcPct val="135000"/>
              </a:lnSpc>
              <a:spcAft>
                <a:spcPts val="200"/>
              </a:spcAft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- reversible · ADMIN_API_KEY header</a:t>
            </a:r>
            <a:endParaRPr lang="en-US" sz="1100" dirty="0"/>
          </a:p>
          <a:p>
            <a:pPr marL="0" indent="0">
              <a:lnSpc>
                <a:spcPct val="135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flush_dead_letter_queue</a:t>
            </a:r>
            <a:endParaRPr lang="en-US" sz="1100" dirty="0"/>
          </a:p>
          <a:p>
            <a:pPr marL="0" indent="0">
              <a:lnSpc>
                <a:spcPct val="135000"/>
              </a:lnSpc>
              <a:spcAft>
                <a:spcPts val="200"/>
              </a:spcAft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- irreversible · requires confirm: true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02920" y="626364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remediation call writes a structured pino audit line to stderr; stdout is reserved for the MCP transport.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A2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XI.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05156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POLICY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789920" y="4114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6355080"/>
            <a:ext cx="1115568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64465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Language Coach  ·  Course Project  ·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086600" y="64465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Hassan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91440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Capability classification — reversibility, not magnitude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920240"/>
          <a:ext cx="6949440" cy="2688336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Capability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Approval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Breaker trip, BullMQ retry, rate limit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A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Deterministic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(threshold-based)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get_service_health, get_groq_latency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A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Agentic (advisory)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(read-only)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pause_queue / resume_queue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A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Agentic (bounded)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(reversible, typed)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reset_circuit_breaker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A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Human-in-the-loop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ADMIN_API_KEY holder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flush_dead_letter_queue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A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Human-in-the-loop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Explicit confirm: true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Infrastructure scaling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A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Operator only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 of agent scope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7772400" y="1920240"/>
            <a:ext cx="3886200" cy="0"/>
          </a:xfrm>
          <a:prstGeom prst="line">
            <a:avLst/>
          </a:prstGeom>
          <a:noFill/>
          <a:ln w="19050">
            <a:solidFill>
              <a:srgbClr val="1A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8"/>
          <p:cNvSpPr/>
          <p:nvPr/>
        </p:nvSpPr>
        <p:spPr>
          <a:xfrm>
            <a:off x="7772400" y="201168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Defence in depth — three layers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772400" y="24688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7A2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(L1)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366760" y="24688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context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7772400" y="2834640"/>
            <a:ext cx="3886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0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exposed through get_safety_policy. The agent self-binds at session start.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772400" y="370332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7A2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(L2)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8366760" y="3703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MCP server boundary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7772400" y="4069080"/>
            <a:ext cx="3886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0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zod schemas reject hallucinated tool names, invalid enums and wrong-typed arguments before dispatch.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7772400" y="493776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7A2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(L3)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8366760" y="49377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Gateway admin route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7772400" y="5303520"/>
            <a:ext cx="3886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0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/admin/breakers/reset checks ADMIN_API_KEY. The final layer when the others fail.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A2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XII.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05156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LEVEL OBJECTIVES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789920" y="4114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6355080"/>
            <a:ext cx="1115568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64465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Language Coach  ·  Course Project  ·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086600" y="64465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Hassan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91440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system promises its users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02920" y="187452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service-level objectives expressed as PromQL queries over a 5-minute rolling window. Headline targets follow.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606040"/>
          <a:ext cx="11155680" cy="2880360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Service-level indicator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A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 availability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1 − rate(http_requests_total{status_code=~"5.."}[5m])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7A2E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99 %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Rolling 5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A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/api/messages p95 latency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histogram_quantile(0.95, …{route="/api/messages"})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7A2E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2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Rolling 5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A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/api/topics p95 latency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histogram_quantile(0.95, …{route="/api/topics"})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7A2E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500 ms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Rolling 5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A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/readyz availability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Prometheus up metric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7A2E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Continuous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A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Queue job success rate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Failed jobs / total jobs processed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7A2E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95 %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day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A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Scraper freshness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Topics inserted per 24 h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7A2E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day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02920" y="562356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k6 load-test targets</a:t>
            </a:r>
            <a:endParaRPr lang="en-US" sz="1300" dirty="0"/>
          </a:p>
        </p:txBody>
      </p:sp>
      <p:sp>
        <p:nvSpPr>
          <p:cNvPr id="10" name="Text 9"/>
          <p:cNvSpPr/>
          <p:nvPr/>
        </p:nvSpPr>
        <p:spPr>
          <a:xfrm>
            <a:off x="502920" y="594360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(10 VUs, 30 s): p95 &lt; 2 s, errors &lt; 1 %  ·  Stressed (0→50 VUs, 75 s): p95 &lt; 4 s, errors &lt; 5 %  ·  Scaled-out: p95 &lt; 2 s, errors &lt; 1 %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A2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XIII.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05156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AND RETURN ON AGENT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789920" y="4114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6355080"/>
            <a:ext cx="1115568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64465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Language Coach  ·  Course Project  ·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086600" y="64465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Hassan</a:t>
            </a:r>
          </a:p>
        </p:txBody>
      </p:sp>
      <p:sp>
        <p:nvSpPr>
          <p:cNvPr id="8" name="Text 6"/>
          <p:cNvSpPr/>
          <p:nvPr/>
        </p:nvSpPr>
        <p:spPr>
          <a:xfrm>
            <a:off x="502920" y="91440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 discipline and operational return</a:t>
            </a:r>
            <a:endParaRPr lang="en-US" sz="3000" dirty="0"/>
          </a:p>
        </p:txBody>
      </p:sp>
      <p:graphicFrame>
        <p:nvGraphicFramePr>
          <p:cNvPr id="9" name="Chart 0"/>
          <p:cNvGraphicFramePr/>
          <p:nvPr/>
        </p:nvGraphicFramePr>
        <p:xfrm>
          <a:off x="502920" y="1874520"/>
          <a:ext cx="5852160" cy="3657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Text 7"/>
          <p:cNvSpPr/>
          <p:nvPr/>
        </p:nvSpPr>
        <p:spPr>
          <a:xfrm>
            <a:off x="6675120" y="18745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Return on agent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675120" y="22402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time to recovery for an open Groq breaker, with and without the MCP operator surface.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675120" y="2834640"/>
            <a:ext cx="50292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675120" y="2926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rgbClr val="7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MCP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675120" y="32461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8–12 min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8595360" y="30175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0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→ SSH → tail logs → inspect /metrics → curl admin route → observe metrics.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675120" y="4251960"/>
            <a:ext cx="50292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6675120" y="4343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rgbClr val="7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MCP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6675120" y="46634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2–4 min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8595360" y="443484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0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→ agent calls three read tools → agent proposes reset → operator approves.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675120" y="5669280"/>
            <a:ext cx="5029200" cy="0"/>
          </a:xfrm>
          <a:prstGeom prst="line">
            <a:avLst/>
          </a:prstGeom>
          <a:noFill/>
          <a:ln w="12700">
            <a:solidFill>
              <a:srgbClr val="1A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6675120" y="57607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Net return on agent ≈ $7–10 / month  (3–5 × return on inference cost)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502920" y="598932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inference budget: $20 / month. Above this ceiling, agentic features auto-disable and operators fall back to manual diagnosis.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A2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XIV.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05156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789920" y="4114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6355080"/>
            <a:ext cx="1115568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64465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Language Coach  ·  Course Project  ·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086600" y="64465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Hassan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91440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work — limitations and next steps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02920" y="187452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has known gaps. The following extensions would improve correctness, durability and operational hygiene.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02920" y="251460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i="1" dirty="0">
                <a:solidFill>
                  <a:srgbClr val="7A2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14400" y="2514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OpenTelemetry distributed tracing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577840" y="2514600"/>
            <a:ext cx="6080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5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Correlate spans from the gateway through workers via the BullMQ payload. This addresses the principal limitation of ADR-004.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136392"/>
            <a:ext cx="1115568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02920" y="320040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i="1" dirty="0">
                <a:solidFill>
                  <a:srgbClr val="7A2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14400" y="3200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Kubernetes with horizontal pod autoscaling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577840" y="3200400"/>
            <a:ext cx="6080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5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Autoscale on queue_depth_total and on http_request_duration_seconds. Today, scale is a manual --scale flag.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02920" y="3822192"/>
            <a:ext cx="1115568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02920" y="388620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i="1" dirty="0">
                <a:solidFill>
                  <a:srgbClr val="7A2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3886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Redis AOF persistence in production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577840" y="3886200"/>
            <a:ext cx="6080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5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append-only-file persistence to guarantee queue durability under unclean restart.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02920" y="4507992"/>
            <a:ext cx="1115568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02920" y="457200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i="1" dirty="0">
                <a:solidFill>
                  <a:srgbClr val="7A2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14400" y="45720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Tighter authentication on the remediation MCP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577840" y="4572000"/>
            <a:ext cx="6080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5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 ADMIN_API_KEY on pause_queue and resume_queue, not only on reset_circuit_breaker.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02920" y="5193792"/>
            <a:ext cx="1115568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02920" y="525780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i="1" dirty="0">
                <a:solidFill>
                  <a:srgbClr val="7A2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14400" y="52578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Statistical load tests with variance bars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577840" y="5257800"/>
            <a:ext cx="6080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5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multiple iterations per configuration on a dedicated host so headline numbers can be reported with confidence intervals.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Scalable and Reliable Systems  ·  Academic Year 2025 / 26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166360" y="2103120"/>
            <a:ext cx="1828800" cy="0"/>
          </a:xfrm>
          <a:prstGeom prst="line">
            <a:avLst/>
          </a:prstGeom>
          <a:noFill/>
          <a:ln w="12700">
            <a:solidFill>
              <a:srgbClr val="7A2E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2377440"/>
            <a:ext cx="11155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502920" y="36118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333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 and discussion are welcome.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166360" y="4297680"/>
            <a:ext cx="18288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02920" y="46634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modes covered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063240" y="466344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primitives, all tested in CI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55080" y="46634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Empirical scaling result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915400" y="466344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−96 % error rate at saturation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51663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surface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063240" y="516636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MCP servers, split by privilege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355080" y="51663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return on agent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915400" y="516636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Approximately 3–5 × inference cost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02920" y="621792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Ibrahim &amp; Hassan ·  May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</TotalTime>
  <Words>2513</Words>
  <Application>Microsoft Office PowerPoint</Application>
  <PresentationFormat>Widescreen</PresentationFormat>
  <Paragraphs>403</Paragraphs>
  <Slides>16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Calibri</vt:lpstr>
      <vt:lpstr>Cambria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Edge Language Coach — Architecture, Reliability and Operability</dc:title>
  <dc:subject>PptxGenJS Presentation</dc:subject>
  <dc:creator>Course Project</dc:creator>
  <cp:lastModifiedBy>Hassan Mujtaba Ahmed - hassan.ahmed5@studio.unibo.it</cp:lastModifiedBy>
  <cp:revision>4</cp:revision>
  <dcterms:created xsi:type="dcterms:W3CDTF">2026-05-19T18:53:30Z</dcterms:created>
  <dcterms:modified xsi:type="dcterms:W3CDTF">2026-05-24T13:13:04Z</dcterms:modified>
</cp:coreProperties>
</file>