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Cambria"/>
              </a:defRPr>
            </a:pPr>
            <a:r>
              <a:rPr sz="1100" b="0" i="0" u="none" strike="noStrike">
                <a:solidFill>
                  <a:srgbClr val="1A1A1A"/>
                </a:solidFill>
                <a:latin typeface="Cambria"/>
              </a:rPr>
              <a:t>Figure 1.  Per-call latency by request number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Latency (ms)</c:v>
                </c:pt>
              </c:strCache>
            </c:strRef>
          </c:tx>
          <c:spPr>
            <a:solidFill>
              <a:srgbClr val="8B1F2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20</c:v>
                  </c:pt>
                  <c:pt idx="11">
                    <c:v>30</c:v>
                  </c:pt>
                  <c:pt idx="12">
                    <c:v>40</c:v>
                  </c:pt>
                  <c:pt idx="13">
                    <c:v>50</c:v>
                  </c:pt>
                  <c:pt idx="14">
                    <c:v>60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15300</c:v>
                </c:pt>
                <c:pt idx="1">
                  <c:v>15300</c:v>
                </c:pt>
                <c:pt idx="2">
                  <c:v>15300</c:v>
                </c:pt>
                <c:pt idx="3">
                  <c:v>15300</c:v>
                </c:pt>
                <c:pt idx="4">
                  <c:v>15300</c:v>
                </c:pt>
                <c:pt idx="5">
                  <c:v>15300</c:v>
                </c:pt>
                <c:pt idx="6">
                  <c:v>15300</c:v>
                </c:pt>
                <c:pt idx="7">
                  <c:v>58</c:v>
                </c:pt>
                <c:pt idx="8">
                  <c:v>40</c:v>
                </c:pt>
                <c:pt idx="9">
                  <c:v>32</c:v>
                </c:pt>
                <c:pt idx="10">
                  <c:v>25</c:v>
                </c:pt>
                <c:pt idx="11">
                  <c:v>22</c:v>
                </c:pt>
                <c:pt idx="12">
                  <c:v>18</c:v>
                </c:pt>
                <c:pt idx="13">
                  <c:v>15</c:v>
                </c:pt>
                <c:pt idx="14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C2A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Cambri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Cambria"/>
              </a:defRPr>
            </a:pPr>
            <a:r>
              <a:rPr sz="1100" b="0" i="0" u="none" strike="noStrike">
                <a:solidFill>
                  <a:srgbClr val="1A1A1A"/>
                </a:solidFill>
                <a:latin typeface="Cambria"/>
              </a:rPr>
              <a:t>Figure 2.  scaled_out gateway error rate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Error rate (%)</c:v>
                </c:pt>
              </c:strCache>
            </c:strRef>
          </c:tx>
          <c:spPr>
            <a:solidFill>
              <a:srgbClr val="8B1F2F"/>
            </a:solidFill>
            <a:effectLst/>
          </c:spPr>
          <c:invertIfNegative val="0"/>
          <c:dLbls>
            <c:numFmt formatCode="0.00\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Cambria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1F2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B2A4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1 replica</c:v>
                  </c:pt>
                  <c:pt idx="1">
                    <c:v>3 replicas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6.81</c:v>
                </c:pt>
                <c:pt idx="1">
                  <c:v>0.27</c:v>
                </c:pt>
              </c:numCache>
            </c:numRef>
          </c:val>
        </c:ser>
        <c:dLbls>
          <c:numFmt formatCode="0.00\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Cambria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Cambria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9C2A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6B6B"/>
                </a:solidFill>
                <a:latin typeface="Cambria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046720" cy="0"/>
          </a:xfrm>
          <a:prstGeom prst="line">
            <a:avLst/>
          </a:prstGeom>
          <a:noFill/>
          <a:ln w="19050">
            <a:solidFill>
              <a:srgbClr val="1B2A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008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ARCHITECTURAL REPORT  ·  DISTRIBUTED SYSTEMS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Reliability, observability, and a safe agentic operator surface for an Italian language-learning platform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3429000"/>
            <a:ext cx="2606040" cy="960120"/>
          </a:xfrm>
          <a:prstGeom prst="rect">
            <a:avLst/>
          </a:prstGeom>
          <a:solidFill>
            <a:srgbClr val="FBF9F2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5021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85800" y="4005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rate, 1 → 3 replicas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37560" y="3429000"/>
            <a:ext cx="2606040" cy="960120"/>
          </a:xfrm>
          <a:prstGeom prst="rect">
            <a:avLst/>
          </a:prstGeom>
          <a:solidFill>
            <a:srgbClr val="FBF9F2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5021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90 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005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Time for Groq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3429000"/>
            <a:ext cx="2606040" cy="960120"/>
          </a:xfrm>
          <a:prstGeom prst="rect">
            <a:avLst/>
          </a:prstGeom>
          <a:solidFill>
            <a:srgbClr val="FBF9F2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63640" y="35021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3–5×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263640" y="40050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Agent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CJ Dev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37760" y="45720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May 2026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864608"/>
            <a:ext cx="8046720" cy="0"/>
          </a:xfrm>
          <a:prstGeom prst="line">
            <a:avLst/>
          </a:prstGeom>
          <a:noFill/>
          <a:ln w="19050">
            <a:solidFill>
              <a:srgbClr val="1B2A4E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I  ·  INTRODUCTION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Edge Language Coach?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Italian language-learning platform — distributed, event-driven, agent-operable.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651760" cy="260604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23160" y="1920240"/>
            <a:ext cx="411480" cy="411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85800" y="2395728"/>
            <a:ext cx="21945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85800" y="24871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Conversation Practice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85800" y="301752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Italian dialogue with a Llama 3.3 tutor via Groq, plus Whisper transcription for spoken practice.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246120" y="1783080"/>
            <a:ext cx="2651760" cy="260604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74720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4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920240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3474720" y="2395728"/>
            <a:ext cx="21945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74720" y="24871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Spaced-Repetition Flashcards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474720" y="301752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Cards generated from each session by background workers and surfaced through the SRS engine.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035040" y="1783080"/>
            <a:ext cx="2651760" cy="260604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63640" y="18745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40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920240"/>
            <a:ext cx="411480" cy="4114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263640" y="2395728"/>
            <a:ext cx="21945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6263640" y="248716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Topic Curation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6263640" y="3017520"/>
            <a:ext cx="2286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scraper runs every six hours, yielding at least five fresh conversation topics per day.</a:t>
            </a:r>
            <a:endParaRPr lang="en-US" sz="1150" dirty="0"/>
          </a:p>
        </p:txBody>
      </p:sp>
      <p:sp>
        <p:nvSpPr>
          <p:cNvPr id="23" name="Text 18"/>
          <p:cNvSpPr/>
          <p:nvPr/>
        </p:nvSpPr>
        <p:spPr>
          <a:xfrm>
            <a:off x="457200" y="448056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independently deployable runtime units: Web  ·  Gateway  ·  Workers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II  ·  SYSTEM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Stateless gateway behind a load balancer; asynchronous work runs through BullMQ on Redis.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600200" cy="960120"/>
          </a:xfrm>
          <a:prstGeom prst="rect">
            <a:avLst/>
          </a:prstGeom>
          <a:solidFill>
            <a:srgbClr val="FBF9F2"/>
          </a:solidFill>
          <a:ln w="19050">
            <a:solidFill>
              <a:srgbClr val="1B2A4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Browser SPA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19 + Vite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40280" y="1874520"/>
            <a:ext cx="1600200" cy="960120"/>
          </a:xfrm>
          <a:prstGeom prst="rect">
            <a:avLst/>
          </a:prstGeom>
          <a:solidFill>
            <a:srgbClr val="FBF9F2"/>
          </a:solidFill>
          <a:ln w="19050">
            <a:solidFill>
              <a:srgbClr val="1B2A4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40280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nginx-lb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240280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round-robin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1874520"/>
            <a:ext cx="1600200" cy="960120"/>
          </a:xfrm>
          <a:prstGeom prst="rect">
            <a:avLst/>
          </a:prstGeom>
          <a:solidFill>
            <a:srgbClr val="FBF9F2"/>
          </a:solidFill>
          <a:ln w="19050">
            <a:solidFill>
              <a:srgbClr val="8B1F2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23360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 × 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0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Fastify / Node 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1874520"/>
            <a:ext cx="1600200" cy="960120"/>
          </a:xfrm>
          <a:prstGeom prst="rect">
            <a:avLst/>
          </a:prstGeom>
          <a:solidFill>
            <a:srgbClr val="FBF9F2"/>
          </a:solidFill>
          <a:ln w="19050">
            <a:solidFill>
              <a:srgbClr val="1B2A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63640" y="201168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2423160"/>
            <a:ext cx="1600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/ Node 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057400" y="2331720"/>
            <a:ext cx="182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840480" y="2331720"/>
            <a:ext cx="182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080760" y="2331720"/>
            <a:ext cx="182880" cy="0"/>
          </a:xfrm>
          <a:prstGeom prst="line">
            <a:avLst/>
          </a:prstGeom>
          <a:noFill/>
          <a:ln w="15875">
            <a:solidFill>
              <a:srgbClr val="3F3F3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57200" y="3246120"/>
            <a:ext cx="2651760" cy="96012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493008"/>
            <a:ext cx="457200" cy="45720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371600" y="334670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371600" y="369417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Postgres + Auth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3246120" y="3246120"/>
            <a:ext cx="2651760" cy="96012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0440" y="3493008"/>
            <a:ext cx="457200" cy="457200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4160520" y="334670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4160520" y="369417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queues + rate limit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6035040" y="3246120"/>
            <a:ext cx="2651760" cy="96012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493008"/>
            <a:ext cx="457200" cy="45720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949440" y="3346704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Groq API</a:t>
            </a:r>
            <a:endParaRPr lang="en-US" sz="1400" dirty="0"/>
          </a:p>
        </p:txBody>
      </p:sp>
      <p:sp>
        <p:nvSpPr>
          <p:cNvPr id="31" name="Text 26"/>
          <p:cNvSpPr/>
          <p:nvPr/>
        </p:nvSpPr>
        <p:spPr>
          <a:xfrm>
            <a:off x="6949440" y="3694176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 + Whisper</a:t>
            </a:r>
            <a:endParaRPr lang="en-US" sz="1050" dirty="0"/>
          </a:p>
        </p:txBody>
      </p:sp>
      <p:sp>
        <p:nvSpPr>
          <p:cNvPr id="32" name="Text 27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shared state in Redis &amp; Supabase — the gateway scales horizontally with a single flag.</a:t>
            </a:r>
            <a:endParaRPr lang="en-US" sz="1100" dirty="0"/>
          </a:p>
        </p:txBody>
      </p:sp>
      <p:sp>
        <p:nvSpPr>
          <p:cNvPr id="33" name="Shape 28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35" name="Text 30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III  ·  RELIABILITY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 primitives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layered mechanisms protect the user-facing chat path.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0574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9202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Breaker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417320" y="2295144"/>
            <a:ext cx="27889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417320" y="2359152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opossum library wraps every Groq call. Opens at 50% errors over a 60 s window; resets after 30 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17720" y="1783080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05740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577840" y="192024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Rate Limiting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5577840" y="2295144"/>
            <a:ext cx="27889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577840" y="2359152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requests/minute per user, backed by Redis and shared across replicas. Health probes are allow-listed.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457200" y="3081528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355848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17320" y="32186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Retries &amp; Dead-Letter Queue</a:t>
            </a:r>
            <a:endParaRPr lang="en-US" sz="1500" dirty="0"/>
          </a:p>
        </p:txBody>
      </p:sp>
      <p:sp>
        <p:nvSpPr>
          <p:cNvPr id="18" name="Shape 13"/>
          <p:cNvSpPr/>
          <p:nvPr/>
        </p:nvSpPr>
        <p:spPr>
          <a:xfrm>
            <a:off x="1417320" y="3593592"/>
            <a:ext cx="27889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417320" y="3657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workers attempt three times with exponential backoff. Persistent failures land in the DLQ.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17720" y="3081528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355848"/>
            <a:ext cx="502920" cy="5029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577840" y="3218688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Idempotency</a:t>
            </a:r>
            <a:endParaRPr lang="en-US" sz="1500" dirty="0"/>
          </a:p>
        </p:txBody>
      </p:sp>
      <p:sp>
        <p:nvSpPr>
          <p:cNvPr id="23" name="Shape 17"/>
          <p:cNvSpPr/>
          <p:nvPr/>
        </p:nvSpPr>
        <p:spPr>
          <a:xfrm>
            <a:off x="5577840" y="3593592"/>
            <a:ext cx="27889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5577840" y="3657600"/>
            <a:ext cx="2971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scraper writes a Redis key per 6-hour window (TTL 6 h). Duplicate replays are no-ops.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457200" y="44348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Pinned in continuous integration: a Vitest suite on the gateway, with Redis, Supabase, and Groq mocked.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III.1  ·  EMPIRICAL EVALUATION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 breaker — measured behaviour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Sixty calls fired at a Groq mock with 30 s sleep, concurrency 12.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512064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783080"/>
            <a:ext cx="2926080" cy="260604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97880" y="18745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latency cliff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897880" y="2212848"/>
            <a:ext cx="26517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897880" y="22860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15,300 ms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5897880" y="2788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calls 1 – 7 (closed, timing out)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897880" y="310896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ms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897880" y="36118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calls 8 – 60 (open, fail fast)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5897880" y="39319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Without the breaker, every call would queue for 15 s.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breaker opens after seven calls — the 10-volume and 50% error thresholds are both crossed. Only seven requests paid the timeout cost.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IV  ·  SCALABILITY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Scaling out — one replica versus three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k6 load test, 50 virtual users sustained for 30 s, Groq mocked.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783080"/>
          <a:ext cx="493776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577840" y="1783080"/>
            <a:ext cx="3108960" cy="118872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715000" y="187452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−96%</a:t>
            </a:r>
            <a:endParaRPr lang="en-US" sz="4000" dirty="0"/>
          </a:p>
        </p:txBody>
      </p:sp>
      <p:sp>
        <p:nvSpPr>
          <p:cNvPr id="8" name="Shape 5"/>
          <p:cNvSpPr/>
          <p:nvPr/>
        </p:nvSpPr>
        <p:spPr>
          <a:xfrm>
            <a:off x="5715000" y="2542032"/>
            <a:ext cx="283464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71500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rate reduction at zero extra cost on the Oracle free tier.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577840" y="3108960"/>
            <a:ext cx="3108960" cy="411480"/>
          </a:xfrm>
          <a:prstGeom prst="rect">
            <a:avLst/>
          </a:prstGeom>
          <a:solidFill>
            <a:srgbClr val="FBF9F2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669280" y="31089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39.4 req/s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858000" y="31089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throughput (unchanged)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577840" y="3566160"/>
            <a:ext cx="3108960" cy="411480"/>
          </a:xfrm>
          <a:prstGeom prst="rect">
            <a:avLst/>
          </a:prstGeom>
          <a:solidFill>
            <a:srgbClr val="FBF9F2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669280" y="35661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2.15 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858000" y="35661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scaled-out p95 latency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577840" y="4023360"/>
            <a:ext cx="3108960" cy="411480"/>
          </a:xfrm>
          <a:prstGeom prst="rect">
            <a:avLst/>
          </a:prstGeom>
          <a:solidFill>
            <a:srgbClr val="FBF9F2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669280" y="4023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$0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858000" y="402336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 infrastructure cost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bottleneck migrates from the gateway event loop to downstream Supabase / Redis round-trips.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V  ·  OBSERVABILITY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 stack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prom-client + Prometheus + Grafana. Pull-based scraping, every 15 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846320" cy="260604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metrics exposed at /metrics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457200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86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http_request_duration_seconds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0" y="2286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0080" y="257860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groq_request_duration_seconds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0" y="257860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87121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groq_circuit_breaker_state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114800" y="28712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0080" y="316382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bullmq_job_duration_seconds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114800" y="316382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" y="345643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jobs_dead_letter_total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114800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0080" y="37490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queue_depth_total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114800" y="3749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Gauge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40080" y="404164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active_sessions_total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114800" y="4041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Gauge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0" y="1783080"/>
            <a:ext cx="3200400" cy="164592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23560" y="185623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 probes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623560" y="2157984"/>
            <a:ext cx="292608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23560" y="224028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/livez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23560" y="2505456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returns 200.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23560" y="278892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/readyz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23560" y="3054096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Pings Redis, Supabase, Groq (2 s timeout). Names the failing dependency on 503.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0" y="3520440"/>
            <a:ext cx="3200400" cy="868680"/>
          </a:xfrm>
          <a:prstGeom prst="rect">
            <a:avLst/>
          </a:prstGeom>
          <a:solidFill>
            <a:srgbClr val="FBF9F2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23560" y="358444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Structured logging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23560" y="385876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pino JSON logs: service, requestId, sessionId, jobId, queue.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004: prom-client over a full OpenTelemetry stack — fewer services, no distributed traces (yet).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VI  ·  OPERATOR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 surface — Agentic MCP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Model Context Protocol servers, split by privilege — recover from incidents without SSH.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2606040"/>
          </a:xfrm>
          <a:prstGeom prst="rect">
            <a:avLst/>
          </a:prstGeom>
          <a:solidFill>
            <a:srgbClr val="243454"/>
          </a:solidFill>
          <a:ln w="9525">
            <a:solidFill>
              <a:srgbClr val="D9D1B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92024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25880" y="19019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observability-mcp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325880" y="22677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READ-ONLY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85800" y="2578608"/>
            <a:ext cx="3566160" cy="0"/>
          </a:xfrm>
          <a:prstGeom prst="line">
            <a:avLst/>
          </a:prstGeom>
          <a:noFill/>
          <a:ln w="6350">
            <a:solidFill>
              <a:srgbClr val="A8A19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31520" y="2697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get_service_health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31520" y="29535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get_queue_metrics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31520" y="32095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get_circuit_breaker_state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731520" y="34655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get_active_sessions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31520" y="3721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get_groq_latency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31520" y="39776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get_safety_policy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663440" y="1783080"/>
            <a:ext cx="4023360" cy="2606040"/>
          </a:xfrm>
          <a:prstGeom prst="rect">
            <a:avLst/>
          </a:prstGeom>
          <a:solidFill>
            <a:srgbClr val="243454"/>
          </a:solidFill>
          <a:ln w="9525">
            <a:solidFill>
              <a:srgbClr val="B5526A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920240"/>
            <a:ext cx="457200" cy="4572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532120" y="190195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remediation-mcp</a:t>
            </a:r>
            <a:endParaRPr lang="en-US" sz="1600" dirty="0"/>
          </a:p>
        </p:txBody>
      </p:sp>
      <p:sp>
        <p:nvSpPr>
          <p:cNvPr id="19" name="Text 15"/>
          <p:cNvSpPr/>
          <p:nvPr/>
        </p:nvSpPr>
        <p:spPr>
          <a:xfrm>
            <a:off x="5532120" y="2267712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E89BA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GUARDED WRITE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4892040" y="2578608"/>
            <a:ext cx="3566160" cy="0"/>
          </a:xfrm>
          <a:prstGeom prst="line">
            <a:avLst/>
          </a:prstGeom>
          <a:noFill/>
          <a:ln w="6350">
            <a:solidFill>
              <a:srgbClr val="A8A192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937760" y="269748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pause_queue / resume_queue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166360" y="295351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guard: typed enum</a:t>
            </a:r>
            <a:endParaRPr lang="en-US" sz="1000" dirty="0"/>
          </a:p>
        </p:txBody>
      </p:sp>
      <p:sp>
        <p:nvSpPr>
          <p:cNvPr id="23" name="Text 19"/>
          <p:cNvSpPr/>
          <p:nvPr/>
        </p:nvSpPr>
        <p:spPr>
          <a:xfrm>
            <a:off x="4937760" y="32461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reset_circuit_breaker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5166360" y="350215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guard: ADMIN_API_KEY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937760" y="37947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5F1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flush_dead_letter_queue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5166360" y="40507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guard: confirm: true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control loop: detect (Prometheus) → diagnose (observability-mcp) → remediate (remediation-mcp).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A8A19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30" name="Text 26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VII  ·  OPERATIONAL SAFETY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classification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line is reversibility — not impact magnitude.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2651760" cy="457200"/>
          </a:xfrm>
          <a:prstGeom prst="rect">
            <a:avLst/>
          </a:prstGeom>
          <a:solidFill>
            <a:srgbClr val="1B2A4E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240280"/>
            <a:ext cx="2651760" cy="219456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1792" y="2331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threshold over a rolling window, or a fixed retry budget. No judgement required.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" y="3108960"/>
            <a:ext cx="2331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" y="32004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Breaker trip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21792" y="347472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BullMQ retry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21792" y="37490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Rate limiter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21792" y="402336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Scraper dedup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46120" y="1783080"/>
            <a:ext cx="2651760" cy="457200"/>
          </a:xfrm>
          <a:prstGeom prst="rect">
            <a:avLst/>
          </a:prstGeom>
          <a:solidFill>
            <a:srgbClr val="9C7A2E"/>
          </a:solidFill>
          <a:ln/>
        </p:spPr>
      </p:sp>
      <p:sp>
        <p:nvSpPr>
          <p:cNvPr id="15" name="Text 13"/>
          <p:cNvSpPr/>
          <p:nvPr/>
        </p:nvSpPr>
        <p:spPr>
          <a:xfrm>
            <a:off x="324612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46120" y="2240280"/>
            <a:ext cx="2651760" cy="219456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0712" y="2331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decision requires interpretation across heterogeneous signals. Bounded and reversible.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410712" y="3108960"/>
            <a:ext cx="2331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10712" y="32004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Health synthesis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410712" y="347472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pause_queue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3410712" y="374904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resume_queue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035040" y="1783080"/>
            <a:ext cx="2651760" cy="457200"/>
          </a:xfrm>
          <a:prstGeom prst="rect">
            <a:avLst/>
          </a:prstGeom>
          <a:solidFill>
            <a:srgbClr val="8B1F2F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1783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in the Loop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035040" y="2240280"/>
            <a:ext cx="2651760" cy="2194560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99632" y="233172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Reversible-but-consequential, or irreversible. The operator must approve.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99632" y="3108960"/>
            <a:ext cx="2331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99632" y="320040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reset_circuit_breaker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199632" y="3474720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·  flush_dead_letter_queue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enforcement layers: agent self-binding → MCP zod schemas → gateway ADMIN_API_KEY.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VIII  ·  ECONOMICS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Agent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Recovering an open Groq breaker — manual SSH versus the MCP loop.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2194560"/>
          </a:xfrm>
          <a:prstGeom prst="rect">
            <a:avLst/>
          </a:prstGeom>
          <a:solidFill>
            <a:srgbClr val="F5F1E6"/>
          </a:solidFill>
          <a:ln w="9525">
            <a:solidFill>
              <a:srgbClr val="8B1F2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recovery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365760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286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– 12 min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008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incident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154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SSH → tail logs → check breaker by hand → curl admin route → watch the next minute of metrics.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783080"/>
            <a:ext cx="4023360" cy="2194560"/>
          </a:xfrm>
          <a:prstGeom prst="rect">
            <a:avLst/>
          </a:prstGeom>
          <a:solidFill>
            <a:srgbClr val="F5F1E6"/>
          </a:solidFill>
          <a:ln w="9525">
            <a:solidFill>
              <a:srgbClr val="1B2A4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MCP loop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46320" y="2212848"/>
            <a:ext cx="365760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22860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– 4 min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846320" y="2788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incident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31546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get_circuit_breaker_state → get_service_health → propose reset → operator approves.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solidFill>
            <a:srgbClr val="0F1B33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114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6 min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saved per incident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651760" y="4114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$12/mo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65176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ops time saved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663440" y="4114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 – 5/mo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66344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inference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41148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– 5×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675120" y="43891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return on cost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IX  ·  DESIGN DECISIONS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trade-offs (ADRs)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decision carries a cost — here is what was chosen and what was conceded.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685800" cy="1170432"/>
          </a:xfrm>
          <a:prstGeom prst="rect">
            <a:avLst/>
          </a:prstGeom>
          <a:solidFill>
            <a:srgbClr val="1B2A4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9202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001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286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234440" y="1901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Node.js workers (BullMQ)</a:t>
            </a:r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over  Go microservices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234440" y="2258568"/>
            <a:ext cx="31089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444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5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Shared TS types, faster iteration, one toolchain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234440" y="2624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 </a:t>
            </a:r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Workers cannot scale independently from each other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17720" y="1783080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17720" y="1783080"/>
            <a:ext cx="685800" cy="1170432"/>
          </a:xfrm>
          <a:prstGeom prst="rect">
            <a:avLst/>
          </a:prstGeom>
          <a:solidFill>
            <a:srgbClr val="1B2A4E"/>
          </a:solidFill>
          <a:ln/>
        </p:spPr>
      </p:sp>
      <p:sp>
        <p:nvSpPr>
          <p:cNvPr id="15" name="Text 13"/>
          <p:cNvSpPr/>
          <p:nvPr/>
        </p:nvSpPr>
        <p:spPr>
          <a:xfrm>
            <a:off x="4617720" y="192024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002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17720" y="228600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5394960" y="190195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BullMQ + Redis</a:t>
            </a:r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over  RabbitMQ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394960" y="2258568"/>
            <a:ext cx="31089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0" y="231343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5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dependency, reused as the rate-limit store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394960" y="2624328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 </a:t>
            </a:r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is not a purpose-built broker; requires AOF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3081528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200" y="3081528"/>
            <a:ext cx="685800" cy="1170432"/>
          </a:xfrm>
          <a:prstGeom prst="rect">
            <a:avLst/>
          </a:prstGeom>
          <a:solidFill>
            <a:srgbClr val="1B2A4E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003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58444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234440" y="3200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Supabase</a:t>
            </a:r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over  Self-hosted Postgres + auth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234440" y="3557016"/>
            <a:ext cx="31089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23444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5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Authentication out of the box, weeks saved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234440" y="39227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 </a:t>
            </a:r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 dependency, vendor lock-in on auth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617720" y="3081528"/>
            <a:ext cx="4023360" cy="1170432"/>
          </a:xfrm>
          <a:prstGeom prst="rect">
            <a:avLst/>
          </a:prstGeom>
          <a:solidFill>
            <a:srgbClr val="F5F1E6"/>
          </a:solidFill>
          <a:ln w="9525">
            <a:solidFill>
              <a:srgbClr val="D9D1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17720" y="3081528"/>
            <a:ext cx="685800" cy="1170432"/>
          </a:xfrm>
          <a:prstGeom prst="rect">
            <a:avLst/>
          </a:prstGeom>
          <a:solidFill>
            <a:srgbClr val="1B2A4E"/>
          </a:solidFill>
          <a:ln/>
        </p:spPr>
      </p:sp>
      <p:sp>
        <p:nvSpPr>
          <p:cNvPr id="31" name="Text 29"/>
          <p:cNvSpPr/>
          <p:nvPr/>
        </p:nvSpPr>
        <p:spPr>
          <a:xfrm>
            <a:off x="46177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ADR 004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17720" y="358444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394960" y="32004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prom-client + Prometheus</a:t>
            </a:r>
            <a:pPr indent="0" marL="0">
              <a:buNone/>
            </a:pPr>
            <a:r>
              <a:rPr lang="en-US" sz="11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over  Full OpenTelemetry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5394960" y="3557016"/>
            <a:ext cx="310896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39496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F5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 </a:t>
            </a:r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 dependency count, ~10 lines of instrumentation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394960" y="3922776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 </a:t>
            </a:r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distributed traces across gateway → worker hops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X  ·  FUTURE 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 questions and next steps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concrete extensions before the system is production-grade.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8229600" cy="457200"/>
          </a:xfrm>
          <a:prstGeom prst="rect">
            <a:avLst/>
          </a:prstGeom>
          <a:solidFill>
            <a:srgbClr val="F5F1E6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1965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i.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74520"/>
            <a:ext cx="274320" cy="274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1801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OpenTelemetry tracing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434840" y="180136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Gateway-to-workers correlation through the BullMQ payload.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solidFill>
            <a:srgbClr val="F5F1E6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4360" y="236829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ii.</a:t>
            </a:r>
            <a:endParaRPr lang="en-US" sz="14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423160"/>
            <a:ext cx="274320" cy="2743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08760" y="235000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Kubernetes manifests with HPA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434840" y="235000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Autoscaling on queue_depth_total and request duration histograms.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solidFill>
            <a:srgbClr val="F5F1E6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94360" y="291693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iii.</a:t>
            </a:r>
            <a:endParaRPr lang="en-US" sz="1400" dirty="0"/>
          </a:p>
        </p:txBody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297180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28986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Redis AOF persistence</a:t>
            </a:r>
            <a:endParaRPr lang="en-US" sz="1250" dirty="0"/>
          </a:p>
        </p:txBody>
      </p:sp>
      <p:sp>
        <p:nvSpPr>
          <p:cNvPr id="19" name="Text 14"/>
          <p:cNvSpPr/>
          <p:nvPr/>
        </p:nvSpPr>
        <p:spPr>
          <a:xfrm>
            <a:off x="4434840" y="289864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 durability for the queue and rate-limit store.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solidFill>
            <a:srgbClr val="F5F1E6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94360" y="346557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iv.</a:t>
            </a:r>
            <a:endParaRPr lang="en-US" sz="14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3520440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08760" y="344728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Tighten MCP authentication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4434840" y="344728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 ADMIN_API_KEY on pause / resume_queue, not only breaker reset.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57200" y="3977640"/>
            <a:ext cx="8229600" cy="457200"/>
          </a:xfrm>
          <a:prstGeom prst="rect">
            <a:avLst/>
          </a:prstGeom>
          <a:solidFill>
            <a:srgbClr val="F5F1E6"/>
          </a:solidFill>
          <a:ln w="6350">
            <a:solidFill>
              <a:srgbClr val="D9D1B8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594360" y="4014216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8B1F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v.</a:t>
            </a:r>
            <a:endParaRPr lang="en-US" sz="1400" dirty="0"/>
          </a:p>
        </p:txBody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069080"/>
            <a:ext cx="274320" cy="27432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08760" y="399592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Statistical load testing</a:t>
            </a:r>
            <a:endParaRPr lang="en-US" sz="1250" dirty="0"/>
          </a:p>
        </p:txBody>
      </p:sp>
      <p:sp>
        <p:nvSpPr>
          <p:cNvPr id="29" name="Text 22"/>
          <p:cNvSpPr/>
          <p:nvPr/>
        </p:nvSpPr>
        <p:spPr>
          <a:xfrm>
            <a:off x="4434840" y="3995928"/>
            <a:ext cx="4114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3F3F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iterations per configuration on a dedicated load-generation host.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548640" y="4736592"/>
            <a:ext cx="8046720" cy="0"/>
          </a:xfrm>
          <a:prstGeom prst="line">
            <a:avLst/>
          </a:prstGeom>
          <a:noFill/>
          <a:ln w="6350">
            <a:solidFill>
              <a:srgbClr val="C9C2AA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54864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spc="200" kern="0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LANGUAGE COACH  ·  ARCHITECTURE REPORT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7040880" y="48006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B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8046720" cy="0"/>
          </a:xfrm>
          <a:prstGeom prst="line">
            <a:avLst/>
          </a:prstGeom>
          <a:noFill/>
          <a:ln w="19050">
            <a:solidFill>
              <a:srgbClr val="C9A86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§ XI  ·  DISCUSSION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Questions?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548640" y="22860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8A1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Reliability, observability, and a safe agentic operator surface — all on the free tier.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8046720" cy="0"/>
          </a:xfrm>
          <a:prstGeom prst="line">
            <a:avLst/>
          </a:prstGeom>
          <a:noFill/>
          <a:ln w="6350">
            <a:solidFill>
              <a:srgbClr val="A8A19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063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findings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3429000"/>
            <a:ext cx="2606040" cy="1051560"/>
          </a:xfrm>
          <a:prstGeom prst="rect">
            <a:avLst/>
          </a:prstGeom>
          <a:solidFill>
            <a:srgbClr val="243454"/>
          </a:solidFill>
          <a:ln w="9525">
            <a:solidFill>
              <a:srgbClr val="C9A8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5021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−96%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error rate, 1 → 3 replicas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37560" y="3429000"/>
            <a:ext cx="2606040" cy="1051560"/>
          </a:xfrm>
          <a:prstGeom prst="rect">
            <a:avLst/>
          </a:prstGeom>
          <a:solidFill>
            <a:srgbClr val="243454"/>
          </a:solidFill>
          <a:ln w="9525">
            <a:solidFill>
              <a:srgbClr val="C9A86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20440" y="35021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90 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4023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Recovery Time for a Groq outage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3429000"/>
            <a:ext cx="2606040" cy="1051560"/>
          </a:xfrm>
          <a:prstGeom prst="rect">
            <a:avLst/>
          </a:prstGeom>
          <a:solidFill>
            <a:srgbClr val="243454"/>
          </a:solidFill>
          <a:ln w="9525">
            <a:solidFill>
              <a:srgbClr val="C9A8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09360" y="350215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A8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layers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309360" y="40233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5F1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MCP safety enforcement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48640" y="4800600"/>
            <a:ext cx="8046720" cy="0"/>
          </a:xfrm>
          <a:prstGeom prst="line">
            <a:avLst/>
          </a:prstGeom>
          <a:noFill/>
          <a:ln w="19050">
            <a:solidFill>
              <a:srgbClr val="C9A86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 Language Coach — Architectural Report</dc:title>
  <dc:subject>PptxGenJS Presentation</dc:subject>
  <dc:creator>CJ Dev</dc:creator>
  <cp:lastModifiedBy>CJ Dev</cp:lastModifiedBy>
  <cp:revision>1</cp:revision>
  <dcterms:created xsi:type="dcterms:W3CDTF">2026-05-13T15:45:24Z</dcterms:created>
  <dcterms:modified xsi:type="dcterms:W3CDTF">2026-05-13T15:45:24Z</dcterms:modified>
</cp:coreProperties>
</file>