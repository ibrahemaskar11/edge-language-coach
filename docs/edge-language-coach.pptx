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mbria"/>
              </a:defRPr>
            </a:pPr>
            <a:r>
              <a:rPr lang="en-US" sz="1100" b="0" i="0" u="none" strike="noStrike">
                <a:solidFill>
                  <a:srgbClr val="1A1A1A"/>
                </a:solidFill>
                <a:latin typeface="Cambria"/>
              </a:rPr>
              <a:t>Figure 1.  Per-call latency by request number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8B1F2F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20</c:v>
                </c:pt>
                <c:pt idx="11">
                  <c:v>30</c:v>
                </c:pt>
                <c:pt idx="12">
                  <c:v>40</c:v>
                </c:pt>
                <c:pt idx="13">
                  <c:v>50</c:v>
                </c:pt>
                <c:pt idx="14">
                  <c:v>60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15300</c:v>
                </c:pt>
                <c:pt idx="1">
                  <c:v>15300</c:v>
                </c:pt>
                <c:pt idx="2">
                  <c:v>15300</c:v>
                </c:pt>
                <c:pt idx="3">
                  <c:v>15300</c:v>
                </c:pt>
                <c:pt idx="4">
                  <c:v>15300</c:v>
                </c:pt>
                <c:pt idx="5">
                  <c:v>15300</c:v>
                </c:pt>
                <c:pt idx="6">
                  <c:v>15300</c:v>
                </c:pt>
                <c:pt idx="7">
                  <c:v>58</c:v>
                </c:pt>
                <c:pt idx="8">
                  <c:v>40</c:v>
                </c:pt>
                <c:pt idx="9">
                  <c:v>32</c:v>
                </c:pt>
                <c:pt idx="10">
                  <c:v>25</c:v>
                </c:pt>
                <c:pt idx="11">
                  <c:v>22</c:v>
                </c:pt>
                <c:pt idx="12">
                  <c:v>18</c:v>
                </c:pt>
                <c:pt idx="13">
                  <c:v>15</c:v>
                </c:pt>
                <c:pt idx="1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C2-45C7-81F1-9E7C962DB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mbria"/>
              </a:defRPr>
            </a:pPr>
            <a:r>
              <a:rPr lang="en-US" sz="1100" b="0" i="0" u="none" strike="noStrike">
                <a:solidFill>
                  <a:srgbClr val="1A1A1A"/>
                </a:solidFill>
                <a:latin typeface="Cambria"/>
              </a:rPr>
              <a:t>Figure 2.  scaled_out gateway error rate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solidFill>
              <a:srgbClr val="8B1F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F-42F6-A3C7-FEA4BCE3A73D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F-42F6-A3C7-FEA4BCE3A73D}"/>
              </c:ext>
            </c:extLst>
          </c:dPt>
          <c:dLbls>
            <c:numFmt formatCode="0.0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1A"/>
                    </a:solidFill>
                    <a:latin typeface="Cambr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replica</c:v>
                </c:pt>
                <c:pt idx="1">
                  <c:v>3 replicas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6.81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F-42F6-A3C7-FEA4BCE3A7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2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4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04672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&amp; RELIABLE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Reliability, observability, and a safe agentic operator surface for an Italian language-learning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606040" cy="960120"/>
          </a:xfrm>
          <a:prstGeom prst="rect">
            <a:avLst/>
          </a:prstGeom>
          <a:solidFill>
            <a:srgbClr val="FBF9F2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rate, 1 → 3 replicas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3429000"/>
            <a:ext cx="2606040" cy="960120"/>
          </a:xfrm>
          <a:prstGeom prst="rect">
            <a:avLst/>
          </a:prstGeom>
          <a:solidFill>
            <a:srgbClr val="FBF9F2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90 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Time for Groq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606040" cy="960120"/>
          </a:xfrm>
          <a:prstGeom prst="rect">
            <a:avLst/>
          </a:prstGeom>
          <a:solidFill>
            <a:srgbClr val="FBF9F2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· 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Language Coach?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Italian language-learning platform — distributed, event-driven, agent-operable.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60604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92024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2395728"/>
            <a:ext cx="21945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Conversation Practice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0175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Italian dialogue with a Llama 3.3 tutor via Groq, plus Whisper transcription for spoken practice.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783080"/>
            <a:ext cx="2651760" cy="260604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2024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74720" y="2395728"/>
            <a:ext cx="21945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7472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Spaced-Repetition Flashcards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74720" y="30175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 generated from each session by background workers and surfaced through the SRS engine.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783080"/>
            <a:ext cx="2651760" cy="260604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6364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920240"/>
            <a:ext cx="411480" cy="411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63640" y="2395728"/>
            <a:ext cx="21945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6364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Topic Curation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63640" y="30175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scraper runs every six hours, yielding at least five fresh conversation topics per day.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independently deployable runtime units: Web  ·  Gateway  ·  Workers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gateway behind a load balancer; asynchronous work runs through BullMQ on Redis.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600200" cy="960120"/>
          </a:xfrm>
          <a:prstGeom prst="rect">
            <a:avLst/>
          </a:prstGeom>
          <a:solidFill>
            <a:srgbClr val="FBF9F2"/>
          </a:solidFill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874520"/>
            <a:ext cx="1600200" cy="960120"/>
          </a:xfrm>
          <a:prstGeom prst="rect">
            <a:avLst/>
          </a:prstGeom>
          <a:solidFill>
            <a:srgbClr val="FBF9F2"/>
          </a:solidFill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4028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nginx-lb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round-robin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874520"/>
            <a:ext cx="1600200" cy="960120"/>
          </a:xfrm>
          <a:prstGeom prst="rect">
            <a:avLst/>
          </a:prstGeom>
          <a:solidFill>
            <a:srgbClr val="FBF9F2"/>
          </a:solidFill>
          <a:ln w="19050">
            <a:solidFill>
              <a:srgbClr val="8B1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× 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Fastify / Node 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1600200" cy="960120"/>
          </a:xfrm>
          <a:prstGeom prst="rect">
            <a:avLst/>
          </a:prstGeom>
          <a:solidFill>
            <a:srgbClr val="FBF9F2"/>
          </a:solidFill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 / Node 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57400" y="2331720"/>
            <a:ext cx="182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2331720"/>
            <a:ext cx="182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182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2651760" cy="96012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93008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33467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36941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+ Auth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6120" y="3246120"/>
            <a:ext cx="2651760" cy="96012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4930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160520" y="33467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160520" y="36941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 + rate limit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35040" y="3246120"/>
            <a:ext cx="2651760" cy="96012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9300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49440" y="33467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949440" y="36941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Whisper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shared state in Redis &amp; Supabase — the gateway scales horizontally with a single flag.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 ·  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primitives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layered mechanisms protect the user-facing chat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17320" y="2295144"/>
            <a:ext cx="27889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235915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opossum library wraps every Groq call. Opens at 50% errors over a 60 s window; resets after 30 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1783080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57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920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577840" y="2295144"/>
            <a:ext cx="27889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577840" y="235915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requests/minute per user, backed by Redis and shared across replicas. Health probes are allow-listed.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081528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558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18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Retries &amp; Dead-Letter Queue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417320" y="3593592"/>
            <a:ext cx="27889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417320" y="3657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 workers attempt three times with exponential backoff. Persistent failures land in the DLQ.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17720" y="3081528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5584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18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577840" y="3593592"/>
            <a:ext cx="27889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577840" y="3657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scraper writes a Redis key per 6-hour window (TTL 6 h). Duplicate replays are no-ops.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in continuous integration: a Vitest suite on the gateway, with Redis, Supabase, and Groq mocked.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III.1  ·  EMPIRICAL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— measured behaviour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Sixty calls fired at a Groq mock with 30 s sleep, concurrency 12.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783080"/>
            <a:ext cx="2926080" cy="260604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978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latency cliff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97880" y="2212848"/>
            <a:ext cx="26517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15,300 ms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9788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1 – 7 (closed, timing out)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9788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9788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8 – 60 (open, fail fast)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97880" y="3931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breaker, every call would queue for 15 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breaker opens after seven calls — the 10-volume and 50% error thresholds are both crossed. Only seven requests paid the timeout cost.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 · 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out — one replica versus three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k6 load test, 50 virtual users sustained for 30 s, Groq mocked.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49377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783080"/>
            <a:ext cx="3108960" cy="118872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−96%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715000" y="2542032"/>
            <a:ext cx="283464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 reduction at zero extra cost on the Oracle free tier.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3108960"/>
            <a:ext cx="3108960" cy="411480"/>
          </a:xfrm>
          <a:prstGeom prst="rect">
            <a:avLst/>
          </a:prstGeom>
          <a:solidFill>
            <a:srgbClr val="FBF9F2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39.4 req/s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(unchanged)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7840" y="3566160"/>
            <a:ext cx="3108960" cy="411480"/>
          </a:xfrm>
          <a:prstGeom prst="rect">
            <a:avLst/>
          </a:prstGeom>
          <a:solidFill>
            <a:srgbClr val="FBF9F2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2.15 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566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scaled-out p95 latency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4023360"/>
            <a:ext cx="3108960" cy="411480"/>
          </a:xfrm>
          <a:prstGeom prst="rect">
            <a:avLst/>
          </a:prstGeom>
          <a:solidFill>
            <a:srgbClr val="FBF9F2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6928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4023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infrastructure cost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migrates from the gateway event loop to downstream Supabase / Redis round-trips.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· 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prom-client + Prometheus + Grafana. Pull-based scraping, every 15 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846320" cy="260604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exposed at /metrics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http_request_duration_seconds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groq_request_duration_seconds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groq_circuit_breaker_state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871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bullmq_job_duration_seconds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163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jobs_dead_letter_total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queue_depth_total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active_sessions_total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783080"/>
            <a:ext cx="3200400" cy="164592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23560" y="1856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probes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2157984"/>
            <a:ext cx="292608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2356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/livez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23560" y="2505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returns 200.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/readyz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23560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Pings Redis, Supabase, Groq (2 s timeout). Names the failing dependency on 503.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520440"/>
            <a:ext cx="3200400" cy="868680"/>
          </a:xfrm>
          <a:prstGeom prst="rect">
            <a:avLst/>
          </a:prstGeom>
          <a:solidFill>
            <a:srgbClr val="FBF9F2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logging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pino JSON logs: service, requestId, sessionId, jobId, queue.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004: prom-client over a full OpenTelemetry stack — fewer services, no distributed traces (yet).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 ·  OPERATOR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surface — Agentic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 Context Protocol servers, split by privilege — recover from incidents without SSH.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606040"/>
          </a:xfrm>
          <a:prstGeom prst="rect">
            <a:avLst/>
          </a:prstGeom>
          <a:solidFill>
            <a:srgbClr val="243454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observability-mcp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267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578608"/>
            <a:ext cx="3566160" cy="0"/>
          </a:xfrm>
          <a:prstGeom prst="line">
            <a:avLst/>
          </a:prstGeom>
          <a:noFill/>
          <a:ln w="6350">
            <a:solidFill>
              <a:srgbClr val="A8A1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get_service_health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953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get_queue_metrics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520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get_circuit_breaker_state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get_active_sessions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get_groq_latency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get_safety_policy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783080"/>
            <a:ext cx="4023360" cy="2606040"/>
          </a:xfrm>
          <a:prstGeom prst="rect">
            <a:avLst/>
          </a:prstGeom>
          <a:solidFill>
            <a:srgbClr val="243454"/>
          </a:solidFill>
          <a:ln w="9525">
            <a:solidFill>
              <a:srgbClr val="B55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remediation-mcp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532120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9B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WRITE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92040" y="2578608"/>
            <a:ext cx="3566160" cy="0"/>
          </a:xfrm>
          <a:prstGeom prst="line">
            <a:avLst/>
          </a:prstGeom>
          <a:noFill/>
          <a:ln w="6350">
            <a:solidFill>
              <a:srgbClr val="A8A1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3776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pause_queue / resume_queue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166360" y="2953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guard: typed enum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3776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reset_circuit_breaker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166360" y="3502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guard: ADMIN_API_KEY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3776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flush_dead_letter_queue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166360" y="4050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guard: confirm: true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loop: detect (Prometheus) → diagnose (observability-mcp) → remediate (remediation-mcp).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A8A1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  ·  OPERATIONAL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is reversibility — not impact magnitude.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threshold over a rolling window, or a fixed retry budget. No judgement required.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3108960"/>
            <a:ext cx="2331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200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Breaker trip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34747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BullMQ retry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Rate limiter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4023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Scraper dedup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783080"/>
            <a:ext cx="2651760" cy="457200"/>
          </a:xfrm>
          <a:prstGeom prst="rect">
            <a:avLst/>
          </a:prstGeom>
          <a:solidFill>
            <a:srgbClr val="9C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240280"/>
            <a:ext cx="2651760" cy="219456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requires interpretation across heterogeneous signals. Bounded and reversible.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10712" y="3108960"/>
            <a:ext cx="2331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10712" y="3200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Health synthesis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10712" y="34747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pause_queue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resume_queue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783080"/>
            <a:ext cx="2651760" cy="457200"/>
          </a:xfrm>
          <a:prstGeom prst="rect">
            <a:avLst/>
          </a:prstGeom>
          <a:solidFill>
            <a:srgbClr val="8B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240280"/>
            <a:ext cx="2651760" cy="2194560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9632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Reversible-but-consequential, or irreversible. The operator must approve.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9632" y="3108960"/>
            <a:ext cx="2331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99632" y="3200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reset_circuit_breaker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flush_dead_letter_queue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enforcement layers: agent self-binding → MCP zod schemas → gateway ADMIN_API_KEY.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VIII  · 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an open Groq breaker — manual SSH versus the MCP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194560"/>
          </a:xfrm>
          <a:prstGeom prst="rect">
            <a:avLst/>
          </a:prstGeom>
          <a:solidFill>
            <a:srgbClr val="F5F1E6"/>
          </a:solidFill>
          <a:ln w="9525">
            <a:solidFill>
              <a:srgbClr val="8B1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recovery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365760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– 12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incident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→ tail logs → check breaker by hand → curl admin route → watch the next minute of metrics.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194560"/>
          </a:xfrm>
          <a:prstGeom prst="rect">
            <a:avLst/>
          </a:prstGeom>
          <a:solidFill>
            <a:srgbClr val="F5F1E6"/>
          </a:solidFill>
          <a:ln w="9525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MCP 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212848"/>
            <a:ext cx="365760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4 min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incident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get_circuit_breaker_state → get_service_health → propose reset → operator approves.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per incident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$12/mo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time saved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 – 5/mo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inference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5×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cost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  ·  DESIGN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trade-offs (ADRs)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carries a cost — here is what was chosen and what was conceded.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85800" cy="117043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workers (BullMQ)</a:t>
            </a: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  Go microservices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2258568"/>
            <a:ext cx="31089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5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</a:t>
            </a: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TS types, faster iteration, one toolchain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</a:t>
            </a:r>
            <a:r>
              <a:rPr lang="en-US" sz="105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cannot scale independently from each other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783080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783080"/>
            <a:ext cx="685800" cy="117043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002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 + Redis</a:t>
            </a: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  RabbitMQ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2258568"/>
            <a:ext cx="31089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5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</a:t>
            </a: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dependency, reused as the rate-limit store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</a:t>
            </a:r>
            <a:r>
              <a:rPr lang="en-US" sz="105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is not a purpose-built broker; requires AOF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81528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685800" cy="117043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18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003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344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  Self-hosted Postgres + auth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34440" y="3557016"/>
            <a:ext cx="31089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4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5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</a:t>
            </a: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out of the box, weeks saved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444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</a:t>
            </a:r>
            <a:r>
              <a:rPr lang="en-US" sz="105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dependency, vendor lock-in on auth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081528"/>
            <a:ext cx="4023360" cy="1170432"/>
          </a:xfrm>
          <a:prstGeom prst="rect">
            <a:avLst/>
          </a:prstGeom>
          <a:solidFill>
            <a:srgbClr val="F5F1E6"/>
          </a:solidFill>
          <a:ln w="9525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3081528"/>
            <a:ext cx="685800" cy="117043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3218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004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584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prom-client + Prometheus</a:t>
            </a:r>
            <a:r>
              <a:rPr lang="en-US" sz="11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  Full OpenTelemetry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557016"/>
            <a:ext cx="310896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94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5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</a:t>
            </a: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dependency count, ~10 lines of instrumentation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</a:t>
            </a:r>
            <a:r>
              <a:rPr lang="en-US" sz="105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distributed traces across gateway → worker hops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· 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and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concrete extensions before the system is production-grade.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F5F1E6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8196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74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013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tracing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434840" y="18013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Gateway-to-workers correlation through the BullMQ payload.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F5F1E6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368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423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3500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manifests with HPA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34840" y="23500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on queue_depth_total and request duration histograms.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F5F1E6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94360" y="29169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9718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28986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AOF persistence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434840" y="28986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durability for the queue and rate-limit store.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5F1E6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94360" y="34655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iv.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5204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4472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Tighten MCP authentication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434840" y="34472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ADMIN_API_KEY on pause / resume_queue, not only breaker reset.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5F1E6"/>
          </a:solidFill>
          <a:ln w="6350">
            <a:solidFill>
              <a:srgbClr val="D9D1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94360" y="4014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B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v.</a:t>
            </a:r>
            <a:endParaRPr lang="en-US" sz="1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0690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3995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load testing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34840" y="39959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3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iterations per configuration on a dedicated load-generation host.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6350">
            <a:solidFill>
              <a:srgbClr val="C9C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kern="0" spc="2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  ·  ARCHITECTURE REPORT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040880" y="4800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046720" cy="0"/>
          </a:xfrm>
          <a:prstGeom prst="line">
            <a:avLst/>
          </a:prstGeom>
          <a:noFill/>
          <a:ln w="19050">
            <a:solidFill>
              <a:srgbClr val="C9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  · 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A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Reliability, observability, and a safe agentic operator surface — all on the free tier.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8046720" cy="0"/>
          </a:xfrm>
          <a:prstGeom prst="line">
            <a:avLst/>
          </a:prstGeom>
          <a:noFill/>
          <a:ln w="6350">
            <a:solidFill>
              <a:srgbClr val="A8A1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06040" cy="1051560"/>
          </a:xfrm>
          <a:prstGeom prst="rect">
            <a:avLst/>
          </a:prstGeom>
          <a:solidFill>
            <a:srgbClr val="243454"/>
          </a:solidFill>
          <a:ln w="9525">
            <a:solidFill>
              <a:srgbClr val="C9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rate, 1 → 3 replicas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429000"/>
            <a:ext cx="2606040" cy="1051560"/>
          </a:xfrm>
          <a:prstGeom prst="rect">
            <a:avLst/>
          </a:prstGeom>
          <a:solidFill>
            <a:srgbClr val="243454"/>
          </a:solidFill>
          <a:ln w="9525">
            <a:solidFill>
              <a:srgbClr val="C9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90 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Time for a Groq outage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606040" cy="1051560"/>
          </a:xfrm>
          <a:prstGeom prst="rect">
            <a:avLst/>
          </a:prstGeom>
          <a:solidFill>
            <a:srgbClr val="243454"/>
          </a:solidFill>
          <a:ln w="9525">
            <a:solidFill>
              <a:srgbClr val="C9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502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layers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MCP safety enforcement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9050">
            <a:solidFill>
              <a:srgbClr val="C9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1399</Words>
  <Application>Microsoft Office PowerPoint</Application>
  <PresentationFormat>On-screen Show (16:9)</PresentationFormat>
  <Paragraphs>247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Language Coach — Architectural Report</dc:title>
  <dc:subject>PptxGenJS Presentation</dc:subject>
  <dc:creator>CJ Dev</dc:creator>
  <cp:lastModifiedBy>Hassan Mujtaba Ahmed - hassan.ahmed5@studio.unibo.it</cp:lastModifiedBy>
  <cp:revision>2</cp:revision>
  <dcterms:created xsi:type="dcterms:W3CDTF">2026-05-13T15:45:24Z</dcterms:created>
  <dcterms:modified xsi:type="dcterms:W3CDTF">2026-05-13T16:16:41Z</dcterms:modified>
</cp:coreProperties>
</file>